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useo Moderno" charset="1" panose="00000000000000000000"/>
      <p:regular r:id="rId15"/>
    </p:embeddedFont>
    <p:embeddedFont>
      <p:font typeface="Museo Moderno Bold" charset="1" panose="00000000000000000000"/>
      <p:regular r:id="rId16"/>
    </p:embeddedFont>
    <p:embeddedFont>
      <p:font typeface="Arial MT Pro" charset="1" panose="020B0502020202020204"/>
      <p:regular r:id="rId17"/>
    </p:embeddedFont>
    <p:embeddedFont>
      <p:font typeface="Arial MT Pro Bold" charset="1" panose="020B0802020202020204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6539" y="0"/>
            <a:ext cx="14861461" cy="10287000"/>
          </a:xfrm>
          <a:custGeom>
            <a:avLst/>
            <a:gdLst/>
            <a:ahLst/>
            <a:cxnLst/>
            <a:rect r="r" b="b" t="t" l="l"/>
            <a:pathLst>
              <a:path h="10287000" w="14861461">
                <a:moveTo>
                  <a:pt x="0" y="0"/>
                </a:moveTo>
                <a:lnTo>
                  <a:pt x="14861461" y="0"/>
                </a:lnTo>
                <a:lnTo>
                  <a:pt x="14861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4" r="0" b="-6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538340" y="-2471376"/>
            <a:ext cx="15229752" cy="152297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4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7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77222" y="3506019"/>
            <a:ext cx="8758463" cy="172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725"/>
              </a:lnSpc>
            </a:pPr>
            <a:r>
              <a:rPr lang="en-US" sz="13394" spc="-656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LogiTech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5540" y="5006688"/>
            <a:ext cx="8758463" cy="171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725"/>
              </a:lnSpc>
            </a:pPr>
            <a:r>
              <a:rPr lang="en-US" b="true" sz="13394" spc="-294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Express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8097" y="8205320"/>
            <a:ext cx="3469238" cy="67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4"/>
              </a:lnSpc>
              <a:spcBef>
                <a:spcPct val="0"/>
              </a:spcBef>
            </a:pPr>
            <a:r>
              <a:rPr lang="en-US" sz="1867" spc="-4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Projeto Back-End:</a:t>
            </a:r>
          </a:p>
          <a:p>
            <a:pPr algn="l" marL="0" indent="0" lvl="0">
              <a:lnSpc>
                <a:spcPts val="2614"/>
              </a:lnSpc>
              <a:spcBef>
                <a:spcPct val="0"/>
              </a:spcBef>
            </a:pPr>
            <a:r>
              <a:rPr lang="en-US" sz="1867" spc="-4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Modernização do Sistema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5012" y="1396633"/>
            <a:ext cx="1932298" cy="35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4"/>
              </a:lnSpc>
              <a:spcBef>
                <a:spcPct val="0"/>
              </a:spcBef>
            </a:pPr>
            <a:r>
              <a:rPr lang="en-US" b="true" sz="1867" spc="-4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LogiTech Express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72609" y="0"/>
            <a:ext cx="8615391" cy="10287000"/>
          </a:xfrm>
          <a:custGeom>
            <a:avLst/>
            <a:gdLst/>
            <a:ahLst/>
            <a:cxnLst/>
            <a:rect r="r" b="b" t="t" l="l"/>
            <a:pathLst>
              <a:path h="10287000" w="8615391">
                <a:moveTo>
                  <a:pt x="0" y="0"/>
                </a:moveTo>
                <a:lnTo>
                  <a:pt x="8615391" y="0"/>
                </a:lnTo>
                <a:lnTo>
                  <a:pt x="861539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8" t="0" r="-29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05012" y="2433421"/>
            <a:ext cx="4556710" cy="1934709"/>
            <a:chOff x="0" y="0"/>
            <a:chExt cx="6075614" cy="257961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6056033" cy="121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95"/>
                </a:lnSpc>
              </a:pPr>
              <a:r>
                <a:rPr lang="en-US" sz="6837" spc="-335">
                  <a:solidFill>
                    <a:srgbClr val="1D1F24"/>
                  </a:solidFill>
                  <a:latin typeface="Museo Moderno"/>
                  <a:ea typeface="Museo Moderno"/>
                  <a:cs typeface="Museo Moderno"/>
                  <a:sym typeface="Museo Moderno"/>
                </a:rPr>
                <a:t>Problema &amp;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9581" y="1335048"/>
              <a:ext cx="6056033" cy="1244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99"/>
                </a:lnSpc>
              </a:pPr>
              <a:r>
                <a:rPr lang="en-US" b="true" sz="6946" spc="-152">
                  <a:solidFill>
                    <a:srgbClr val="0044EA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Objetivo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71180" y="4542664"/>
            <a:ext cx="5839061" cy="421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34"/>
              </a:lnSpc>
            </a:pPr>
          </a:p>
          <a:p>
            <a:pPr algn="just" marL="0" indent="0" lvl="0">
              <a:lnSpc>
                <a:spcPts val="4134"/>
              </a:lnSpc>
            </a:pPr>
            <a:r>
              <a:rPr lang="en-US" sz="246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• Dados duplicados no banco</a:t>
            </a:r>
          </a:p>
          <a:p>
            <a:pPr algn="just" marL="0" indent="0" lvl="0">
              <a:lnSpc>
                <a:spcPts val="4134"/>
              </a:lnSpc>
            </a:pPr>
            <a:r>
              <a:rPr lang="en-US" sz="246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• Estrutura desorganizada</a:t>
            </a:r>
          </a:p>
          <a:p>
            <a:pPr algn="just" marL="0" indent="0" lvl="0">
              <a:lnSpc>
                <a:spcPts val="4134"/>
              </a:lnSpc>
            </a:pPr>
            <a:r>
              <a:rPr lang="en-US" sz="246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• Ausência de segurança e controle</a:t>
            </a:r>
          </a:p>
          <a:p>
            <a:pPr algn="just" marL="0" indent="0" lvl="0">
              <a:lnSpc>
                <a:spcPts val="4134"/>
              </a:lnSpc>
            </a:pPr>
            <a:r>
              <a:rPr lang="en-US" sz="246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Objetivo:</a:t>
            </a:r>
          </a:p>
          <a:p>
            <a:pPr algn="just" marL="0" indent="0" lvl="0">
              <a:lnSpc>
                <a:spcPts val="4134"/>
              </a:lnSpc>
            </a:pPr>
            <a:r>
              <a:rPr lang="en-US" sz="246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• Back-End organizado e escalável</a:t>
            </a:r>
          </a:p>
          <a:p>
            <a:pPr algn="just" marL="0" indent="0" lvl="0">
              <a:lnSpc>
                <a:spcPts val="4134"/>
              </a:lnSpc>
            </a:pPr>
            <a:r>
              <a:rPr lang="en-US" sz="246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• Banco de dados normalizado</a:t>
            </a:r>
          </a:p>
          <a:p>
            <a:pPr algn="just" marL="0" indent="0" lvl="0">
              <a:lnSpc>
                <a:spcPts val="4134"/>
              </a:lnSpc>
            </a:pPr>
            <a:r>
              <a:rPr lang="en-US" sz="246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• Segurança e boas práticas aplicadas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72532" y="6971532"/>
            <a:ext cx="3315468" cy="3315468"/>
          </a:xfrm>
          <a:custGeom>
            <a:avLst/>
            <a:gdLst/>
            <a:ahLst/>
            <a:cxnLst/>
            <a:rect r="r" b="b" t="t" l="l"/>
            <a:pathLst>
              <a:path h="3315468" w="3315468">
                <a:moveTo>
                  <a:pt x="0" y="0"/>
                </a:moveTo>
                <a:lnTo>
                  <a:pt x="3315468" y="0"/>
                </a:lnTo>
                <a:lnTo>
                  <a:pt x="3315468" y="3315468"/>
                </a:lnTo>
                <a:lnTo>
                  <a:pt x="0" y="3315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81354" y="750419"/>
            <a:ext cx="9877946" cy="9260574"/>
          </a:xfrm>
          <a:custGeom>
            <a:avLst/>
            <a:gdLst/>
            <a:ahLst/>
            <a:cxnLst/>
            <a:rect r="r" b="b" t="t" l="l"/>
            <a:pathLst>
              <a:path h="9260574" w="9877946">
                <a:moveTo>
                  <a:pt x="0" y="0"/>
                </a:moveTo>
                <a:lnTo>
                  <a:pt x="9877946" y="0"/>
                </a:lnTo>
                <a:lnTo>
                  <a:pt x="9877946" y="9260574"/>
                </a:lnTo>
                <a:lnTo>
                  <a:pt x="0" y="9260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5013" y="2268141"/>
            <a:ext cx="4542025" cy="89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99"/>
              </a:lnSpc>
            </a:pPr>
            <a:r>
              <a:rPr lang="en-US" sz="6946" spc="-340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Banco 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19698" y="3147983"/>
            <a:ext cx="4542025" cy="89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99"/>
              </a:lnSpc>
            </a:pPr>
            <a:r>
              <a:rPr lang="en-US" b="true" sz="6946" spc="-152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Dados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0522" y="5384516"/>
            <a:ext cx="6813169" cy="182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</a:pPr>
          </a:p>
          <a:p>
            <a:pPr algn="l" marL="0" indent="0" lvl="0">
              <a:lnSpc>
                <a:spcPts val="2910"/>
              </a:lnSpc>
            </a:pPr>
            <a:r>
              <a:rPr lang="en-US" sz="173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Problema no Banco de Dados</a:t>
            </a:r>
          </a:p>
          <a:p>
            <a:pPr algn="l" marL="0" indent="0" lvl="0">
              <a:lnSpc>
                <a:spcPts val="2910"/>
              </a:lnSpc>
            </a:pPr>
            <a:r>
              <a:rPr lang="en-US" sz="173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No banco atual, as informações do sistema estão guardadas de um jeito muito desorganizado</a:t>
            </a:r>
          </a:p>
          <a:p>
            <a:pPr algn="l" marL="0" indent="0" lvl="0">
              <a:lnSpc>
                <a:spcPts val="291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30522" y="5074734"/>
            <a:ext cx="4883023" cy="81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615" spc="-128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 no Banco de Dados</a:t>
            </a:r>
          </a:p>
          <a:p>
            <a:pPr algn="l" marL="0" indent="0" lvl="0">
              <a:lnSpc>
                <a:spcPts val="30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513724" y="132604"/>
            <a:ext cx="4044823" cy="42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2"/>
              </a:lnSpc>
            </a:pPr>
            <a:r>
              <a:rPr lang="en-US" b="true" sz="2515" spc="-12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Solução Proposta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7908299"/>
            <a:ext cx="18288000" cy="3227276"/>
            <a:chOff x="0" y="0"/>
            <a:chExt cx="4816593" cy="8499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49982"/>
            </a:xfrm>
            <a:custGeom>
              <a:avLst/>
              <a:gdLst/>
              <a:ahLst/>
              <a:cxnLst/>
              <a:rect r="r" b="b" t="t" l="l"/>
              <a:pathLst>
                <a:path h="8499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49982"/>
                  </a:lnTo>
                  <a:lnTo>
                    <a:pt x="0" y="849982"/>
                  </a:lnTo>
                  <a:close/>
                </a:path>
              </a:pathLst>
            </a:custGeom>
            <a:gradFill rotWithShape="true">
              <a:gsLst>
                <a:gs pos="0">
                  <a:srgbClr val="1D1F24">
                    <a:alpha val="0"/>
                  </a:srgbClr>
                </a:gs>
                <a:gs pos="100000">
                  <a:srgbClr val="1D1F2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4816593" cy="945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3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2506273"/>
            <a:ext cx="8151995" cy="7530494"/>
          </a:xfrm>
          <a:custGeom>
            <a:avLst/>
            <a:gdLst/>
            <a:ahLst/>
            <a:cxnLst/>
            <a:rect r="r" b="b" t="t" l="l"/>
            <a:pathLst>
              <a:path h="7530494" w="8151995">
                <a:moveTo>
                  <a:pt x="0" y="0"/>
                </a:moveTo>
                <a:lnTo>
                  <a:pt x="8151995" y="0"/>
                </a:lnTo>
                <a:lnTo>
                  <a:pt x="8151995" y="7530494"/>
                </a:lnTo>
                <a:lnTo>
                  <a:pt x="0" y="7530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20" r="-10780" b="-62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26827" y="2805285"/>
            <a:ext cx="9053361" cy="5344682"/>
          </a:xfrm>
          <a:custGeom>
            <a:avLst/>
            <a:gdLst/>
            <a:ahLst/>
            <a:cxnLst/>
            <a:rect r="r" b="b" t="t" l="l"/>
            <a:pathLst>
              <a:path h="5344682" w="9053361">
                <a:moveTo>
                  <a:pt x="0" y="0"/>
                </a:moveTo>
                <a:lnTo>
                  <a:pt x="9053361" y="0"/>
                </a:lnTo>
                <a:lnTo>
                  <a:pt x="9053361" y="5344682"/>
                </a:lnTo>
                <a:lnTo>
                  <a:pt x="0" y="5344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4" t="0" r="-57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06213" y="803674"/>
            <a:ext cx="4178562" cy="66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</a:pPr>
            <a:r>
              <a:rPr lang="en-US" sz="5218" spc="-255">
                <a:solidFill>
                  <a:srgbClr val="1D1F24"/>
                </a:solidFill>
                <a:latin typeface="Museo Moderno"/>
                <a:ea typeface="Museo Moderno"/>
                <a:cs typeface="Museo Moderno"/>
                <a:sym typeface="Museo Moderno"/>
              </a:rPr>
              <a:t>Arquitetura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20588" y="1684816"/>
            <a:ext cx="5660335" cy="66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8"/>
              </a:lnSpc>
            </a:pPr>
            <a:r>
              <a:rPr lang="en-US" b="true" sz="5218" spc="-114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Museo Moderno Bold"/>
                <a:ea typeface="Museo Moderno Bold"/>
                <a:cs typeface="Museo Moderno Bold"/>
                <a:sym typeface="Museo Moderno Bold"/>
              </a:rPr>
              <a:t>MVC + Repository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1764" y="1784594"/>
            <a:ext cx="11090704" cy="6434312"/>
          </a:xfrm>
          <a:custGeom>
            <a:avLst/>
            <a:gdLst/>
            <a:ahLst/>
            <a:cxnLst/>
            <a:rect r="r" b="b" t="t" l="l"/>
            <a:pathLst>
              <a:path h="6434312" w="11090704">
                <a:moveTo>
                  <a:pt x="0" y="0"/>
                </a:moveTo>
                <a:lnTo>
                  <a:pt x="11090704" y="0"/>
                </a:lnTo>
                <a:lnTo>
                  <a:pt x="11090704" y="6434312"/>
                </a:lnTo>
                <a:lnTo>
                  <a:pt x="0" y="6434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0" t="-18399" r="0" b="-208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61217" y="1698773"/>
            <a:ext cx="6845782" cy="606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</a:p>
          <a:p>
            <a:pPr algn="ctr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Problema: código antigo misturava rotas, banco e regras.</a:t>
            </a:r>
          </a:p>
          <a:p>
            <a:pPr algn="ctr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Solução: usar MVC + Repository Pattern.</a:t>
            </a:r>
          </a:p>
          <a:p>
            <a:pPr algn="ctr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Routes: define os caminhos da AP</a:t>
            </a: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I.</a:t>
            </a:r>
          </a:p>
          <a:p>
            <a:pPr algn="ctr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Controller: recebe e responde às requisições.</a:t>
            </a:r>
          </a:p>
          <a:p>
            <a:pPr algn="ctr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Service: aplica as regras do sistema.</a:t>
            </a:r>
          </a:p>
          <a:p>
            <a:pPr algn="ctr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Repository: cuida do banco de dados.</a:t>
            </a:r>
          </a:p>
          <a:p>
            <a:pPr algn="ctr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Database: armazena as informações.</a:t>
            </a:r>
          </a:p>
          <a:p>
            <a:pPr algn="ctr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 deixar o sistema organizado, fácil de manter e testar.</a:t>
            </a:r>
          </a:p>
          <a:p>
            <a:pPr algn="ctr">
              <a:lnSpc>
                <a:spcPts val="840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84988" y="103774"/>
            <a:ext cx="10328988" cy="9439372"/>
          </a:xfrm>
          <a:custGeom>
            <a:avLst/>
            <a:gdLst/>
            <a:ahLst/>
            <a:cxnLst/>
            <a:rect r="r" b="b" t="t" l="l"/>
            <a:pathLst>
              <a:path h="9439372" w="10328988">
                <a:moveTo>
                  <a:pt x="0" y="0"/>
                </a:moveTo>
                <a:lnTo>
                  <a:pt x="10328988" y="0"/>
                </a:lnTo>
                <a:lnTo>
                  <a:pt x="10328988" y="9439372"/>
                </a:lnTo>
                <a:lnTo>
                  <a:pt x="0" y="943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65028" y="237124"/>
            <a:ext cx="4571396" cy="77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5"/>
              </a:lnSpc>
            </a:pPr>
            <a:r>
              <a:rPr lang="en-US" sz="6016" spc="-294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Segurança &amp;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94398" y="1190625"/>
            <a:ext cx="4542025" cy="8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9"/>
              </a:lnSpc>
            </a:pPr>
            <a:r>
              <a:rPr lang="en-US" b="true" sz="6946" spc="-152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Testes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43462" y="215799"/>
            <a:ext cx="103167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 spc="-42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LogiTech Express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03535" y="2637243"/>
            <a:ext cx="7118449" cy="65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3"/>
              </a:lnSpc>
              <a:spcBef>
                <a:spcPct val="0"/>
              </a:spcBef>
            </a:pPr>
            <a:r>
              <a:rPr lang="en-US" b="true" sz="342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Risco das Credenciais Expostas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52505" y="3855710"/>
            <a:ext cx="7269480" cy="136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3"/>
              </a:lnSpc>
              <a:spcBef>
                <a:spcPct val="0"/>
              </a:spcBef>
            </a:pPr>
            <a:r>
              <a:rPr lang="en-US" b="true" sz="342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342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Solução de Isolamento e Contratos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95625" y="5779064"/>
            <a:ext cx="6383238" cy="136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3"/>
              </a:lnSpc>
              <a:spcBef>
                <a:spcPct val="0"/>
              </a:spcBef>
            </a:pPr>
            <a:r>
              <a:rPr lang="en-US" b="true" sz="342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342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onfiguração do Arquivo .env</a:t>
            </a:r>
          </a:p>
          <a:p>
            <a:pPr algn="ctr">
              <a:lnSpc>
                <a:spcPts val="561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3749" y="0"/>
            <a:ext cx="7654251" cy="10287000"/>
            <a:chOff x="0" y="0"/>
            <a:chExt cx="812800" cy="1092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092370"/>
            </a:xfrm>
            <a:custGeom>
              <a:avLst/>
              <a:gdLst/>
              <a:ahLst/>
              <a:cxnLst/>
              <a:rect r="r" b="b" t="t" l="l"/>
              <a:pathLst>
                <a:path h="109237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92370"/>
                  </a:lnTo>
                  <a:lnTo>
                    <a:pt x="0" y="1092370"/>
                  </a:lnTo>
                  <a:close/>
                </a:path>
              </a:pathLst>
            </a:custGeom>
            <a:blipFill>
              <a:blip r:embed="rId2"/>
              <a:stretch>
                <a:fillRect l="-146" t="0" r="-14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33255" y="1346469"/>
            <a:ext cx="5344731" cy="8452259"/>
          </a:xfrm>
          <a:custGeom>
            <a:avLst/>
            <a:gdLst/>
            <a:ahLst/>
            <a:cxnLst/>
            <a:rect r="r" b="b" t="t" l="l"/>
            <a:pathLst>
              <a:path h="8452259" w="5344731">
                <a:moveTo>
                  <a:pt x="0" y="0"/>
                </a:moveTo>
                <a:lnTo>
                  <a:pt x="5344730" y="0"/>
                </a:lnTo>
                <a:lnTo>
                  <a:pt x="5344730" y="8452258"/>
                </a:lnTo>
                <a:lnTo>
                  <a:pt x="0" y="845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3" t="0" r="-271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86898" y="125998"/>
            <a:ext cx="7482938" cy="90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b="true" sz="4682">
                <a:solidFill>
                  <a:srgbClr val="1D1F24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Roadmap</a:t>
            </a:r>
            <a:r>
              <a:rPr lang="en-US" sz="4682">
                <a:solidFill>
                  <a:srgbClr val="1D1F24"/>
                </a:solidFill>
                <a:latin typeface="Museo Moderno"/>
                <a:ea typeface="Museo Moderno"/>
                <a:cs typeface="Museo Moderno"/>
                <a:sym typeface="Museo Moderno"/>
              </a:rPr>
              <a:t> do Projeto</a:t>
            </a: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  <p:grpSp>
        <p:nvGrpSpPr>
          <p:cNvPr name="Group 3" id="3"/>
          <p:cNvGrpSpPr/>
          <p:nvPr/>
        </p:nvGrpSpPr>
        <p:grpSpPr>
          <a:xfrm rot="3289743">
            <a:off x="-5277742" y="1507821"/>
            <a:ext cx="20038071" cy="11461608"/>
            <a:chOff x="0" y="0"/>
            <a:chExt cx="5277517" cy="30186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77517" cy="3018695"/>
            </a:xfrm>
            <a:custGeom>
              <a:avLst/>
              <a:gdLst/>
              <a:ahLst/>
              <a:cxnLst/>
              <a:rect r="r" b="b" t="t" l="l"/>
              <a:pathLst>
                <a:path h="3018695" w="5277517">
                  <a:moveTo>
                    <a:pt x="0" y="0"/>
                  </a:moveTo>
                  <a:lnTo>
                    <a:pt x="5277517" y="0"/>
                  </a:lnTo>
                  <a:lnTo>
                    <a:pt x="5277517" y="3018695"/>
                  </a:lnTo>
                  <a:lnTo>
                    <a:pt x="0" y="3018695"/>
                  </a:lnTo>
                  <a:close/>
                </a:path>
              </a:pathLst>
            </a:custGeom>
            <a:gradFill rotWithShape="true">
              <a:gsLst>
                <a:gs pos="0">
                  <a:srgbClr val="1D1F24">
                    <a:alpha val="0"/>
                  </a:srgbClr>
                </a:gs>
                <a:gs pos="100000">
                  <a:srgbClr val="1D1F2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5277517" cy="3113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3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281494" y="2570028"/>
            <a:ext cx="3725013" cy="61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94"/>
              </a:lnSpc>
            </a:pPr>
            <a:r>
              <a:rPr lang="en-US" b="true" sz="4836" spc="-106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Conclusão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02007" y="4792660"/>
            <a:ext cx="11483987" cy="21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3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projeto estruturou a base do sistema da Logi</a:t>
            </a:r>
            <a:r>
              <a:rPr lang="en-US" b="true" sz="25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 Express, organizando o banco de dados, a arquitetura do backend e suas rotas. Também foram definidas medidas de segurança, padrões de comunicação em JSON e os testes para as próximas etapas.</a:t>
            </a:r>
          </a:p>
        </p:txBody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61" y="-2907592"/>
            <a:ext cx="18077065" cy="13194592"/>
          </a:xfrm>
          <a:custGeom>
            <a:avLst/>
            <a:gdLst/>
            <a:ahLst/>
            <a:cxnLst/>
            <a:rect r="r" b="b" t="t" l="l"/>
            <a:pathLst>
              <a:path h="13194592" w="18077065">
                <a:moveTo>
                  <a:pt x="0" y="0"/>
                </a:moveTo>
                <a:lnTo>
                  <a:pt x="18077066" y="0"/>
                </a:lnTo>
                <a:lnTo>
                  <a:pt x="18077066" y="13194592"/>
                </a:lnTo>
                <a:lnTo>
                  <a:pt x="0" y="13194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91" r="0" b="-669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10236" y="3040652"/>
            <a:ext cx="6233010" cy="119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25"/>
              </a:lnSpc>
            </a:pPr>
            <a:r>
              <a:rPr lang="en-US" sz="9289" spc="-455">
                <a:solidFill>
                  <a:srgbClr val="1D1F24"/>
                </a:solidFill>
                <a:latin typeface="Museo Moderno"/>
                <a:ea typeface="Museo Moderno"/>
                <a:cs typeface="Museo Moderno"/>
                <a:sym typeface="Museo Moderno"/>
              </a:rPr>
              <a:t>Obrigado!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50542" y="4583640"/>
            <a:ext cx="6192704" cy="119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25"/>
              </a:lnSpc>
            </a:pPr>
            <a:r>
              <a:rPr lang="en-US" b="true" sz="9289" spc="-204">
                <a:solidFill>
                  <a:srgbClr val="0044EA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Perguntas?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54767" y="8851240"/>
            <a:ext cx="2578466" cy="25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49"/>
              </a:lnSpc>
              <a:spcBef>
                <a:spcPct val="0"/>
              </a:spcBef>
            </a:pPr>
            <a:r>
              <a:rPr lang="en-US" sz="1392" spc="-3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Back-End Project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DAHUupeBKts</dc:identifier>
  <dcterms:modified xsi:type="dcterms:W3CDTF">2011-08-01T06:04:30Z</dcterms:modified>
  <cp:revision>1</cp:revision>
  <dc:title>Crie uma apresentação curta e profissional sobre o projeto LogiTech Express – Back-End. Inclua: Problema: dados duplicados, banco desorganizado e falta de segurança. Objetivo: criar um Back-End organizado, seguro e escalável. Banco de dados: normalização</dc:title>
</cp:coreProperties>
</file>